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kampus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00584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5603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EC4B6"/>
                </a:solidFill>
                <a:latin typeface="Calibri"/>
              </a:rPr>
              <a:t>Kampüsün kurumsal dijital ekosistemi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A6A0"/>
                </a:solidFill>
                <a:latin typeface="Calibri"/>
              </a:rPr>
              <a:t>FİRMALAR  ·  RESMİ ÜNİVERSİTE TOPLULUKLARI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25196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8E8E3"/>
                </a:solidFill>
                <a:latin typeface="Calibri"/>
              </a:rPr>
              <a:t>Ekosistem şeması · operasyon süreçleri · kariyer hunisi
Güvenli, doğrulanmış ve kampüse özel kurumsal sunum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Instagram  @kampusteyimapp  ·  instagram.com/kampusteyimapp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235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Kayra Çatalkaya  ·  AYS Tech  ·  Temmuz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Kurumsal Tanıtım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BÖLÜM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Kampüs ekosistemi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A"/>
                </a:solidFill>
                <a:latin typeface="Calibri"/>
              </a:rPr>
              <a:t>KampüsteyimAPP; öğrenci, firma ve resmi üniversite topluluklarını tek doğrulanmış dijital çatı altında birleştirir. Amaç dağınık kanallar değil — ölçülebilir, güvenli ve kampüse özel bir etkileşim ağıdır.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5247" y="233172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59839" y="2496312"/>
            <a:ext cx="2596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Öğrenci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3263" y="2807208"/>
            <a:ext cx="26700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9DBE8"/>
                </a:solidFill>
                <a:latin typeface="Calibri"/>
              </a:rPr>
              <a:t>Sosyal · CV-AI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9DBE8"/>
                </a:solidFill>
                <a:latin typeface="Calibri"/>
              </a:rPr>
              <a:t>Başvuru · Odak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32807" y="233172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7399" y="2496312"/>
            <a:ext cx="2596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Firma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0823" y="2807208"/>
            <a:ext cx="26700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9DBE8"/>
                </a:solidFill>
                <a:latin typeface="Calibri"/>
              </a:rPr>
              <a:t>İşveren markası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9DBE8"/>
                </a:solidFill>
                <a:latin typeface="Calibri"/>
              </a:rPr>
              <a:t>Staj-AI · İlan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0367" y="233172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4959" y="2496312"/>
            <a:ext cx="2596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Topluluk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8383" y="2807208"/>
            <a:ext cx="26700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9DBE8"/>
                </a:solidFill>
                <a:latin typeface="Calibri"/>
              </a:rPr>
              <a:t>Resmi kimlik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9DBE8"/>
                </a:solidFill>
                <a:latin typeface="Calibri"/>
              </a:rPr>
              <a:t>Etkinlik · Duyuru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58287.5" y="3566160"/>
            <a:ext cx="0.0" cy="32004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5847.5" y="3566160"/>
            <a:ext cx="0.0" cy="32004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433407.5" y="3566160"/>
            <a:ext cx="0.0" cy="32004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58287.5" y="3886200"/>
            <a:ext cx="6675120.0" cy="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95847.5" y="3886200"/>
            <a:ext cx="0.0" cy="41148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718407" y="4297680"/>
            <a:ext cx="4754880" cy="132588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2999" y="4462272"/>
            <a:ext cx="4425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6423" y="4773168"/>
            <a:ext cx="44988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9DBE8"/>
                </a:solidFill>
                <a:latin typeface="Calibri"/>
              </a:rPr>
              <a:t>Doğrulama · Akış · Kariyer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9DBE8"/>
                </a:solidFill>
                <a:latin typeface="Calibri"/>
              </a:rPr>
              <a:t>Etkinlik · Guard · Plus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80644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Tek kampüs ekosistemi · doğrulanmış hesaplar · ölçülebilir etkileşim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Kurumsal Tanıtım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BÖLÜM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Kurumsal değer alanları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5367528" cy="2029968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828800"/>
            <a:ext cx="5001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Güven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148840"/>
            <a:ext cx="500176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Altın / mavi / yeşil rozetler ve AYS Tech Guard ile itibar katmanı.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645920"/>
            <a:ext cx="5367528" cy="2029968"/>
          </a:xfrm>
          <a:prstGeom prst="roundRect">
            <a:avLst>
              <a:gd name="adj" fmla="val 12000"/>
            </a:avLst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5001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Erişim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48840"/>
            <a:ext cx="500176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Doğrudan öğrenci kitlesi — dağınık sosyal kanallar yerine tek kampüs.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22192"/>
            <a:ext cx="5367528" cy="2029968"/>
          </a:xfrm>
          <a:prstGeom prst="roundRect">
            <a:avLst>
              <a:gd name="adj" fmla="val 12000"/>
            </a:avLst>
          </a:prstGeom>
          <a:solidFill>
            <a:srgbClr val="0F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005072"/>
            <a:ext cx="5001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Operasyon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325112"/>
            <a:ext cx="500176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Etkinlik, duyuru, kota ve başvuru tek panelde yönetilir.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3822192"/>
            <a:ext cx="5367528" cy="2029968"/>
          </a:xfrm>
          <a:prstGeom prst="roundRect">
            <a:avLst>
              <a:gd name="adj" fmla="val 12000"/>
            </a:avLst>
          </a:prstGeom>
          <a:solidFill>
            <a:srgbClr val="1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005072"/>
            <a:ext cx="5001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Kariyer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325112"/>
            <a:ext cx="500176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CV-AI + Staj-AI ile işveren–aday köprüsü hızlanır.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Kurumsal Tanıtım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BÖLÜM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Kurumsal katılım süreci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A"/>
                </a:solidFill>
                <a:latin typeface="Calibri"/>
              </a:rPr>
              <a:t>Firma veya resmi topluluk hesabı, onay sonrası kampüste görünür hale gelir.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5740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" y="22219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2402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2199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Başvuru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6032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Resmi hesap talebi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68396.0" y="258318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2988" y="205740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61004" y="22219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61004" y="22402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35908" y="222199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Doğrulama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5908" y="256032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Kimlik &amp; rozet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98464.0" y="258318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63056" y="205740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91072" y="22219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22402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5976" y="222199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Yayın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5976" y="256032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Akış / etkinlik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28532.0" y="258318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993124" y="205740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21140" y="22219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21140" y="22402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6044" y="222199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Ölçüm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6044" y="256032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Etkileşim &amp; başvuru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3832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Güven ve altyapı katmanları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794760"/>
            <a:ext cx="11155680" cy="530352"/>
          </a:xfrm>
          <a:prstGeom prst="roundRect">
            <a:avLst>
              <a:gd name="adj" fmla="val 12000"/>
            </a:avLst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9227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Deneyim katmanı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92277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D5E4EE"/>
                </a:solidFill>
                <a:latin typeface="Calibri"/>
              </a:rPr>
              <a:t>Akış · Hikâye · Reels · Etkinlik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416552"/>
            <a:ext cx="11155680" cy="530352"/>
          </a:xfrm>
          <a:prstGeom prst="roundRect">
            <a:avLst>
              <a:gd name="adj" fmla="val 12000"/>
            </a:avLst>
          </a:prstGeom>
          <a:solidFill>
            <a:srgbClr val="178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5445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Kariyer katmanı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454456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D5E4EE"/>
                </a:solidFill>
                <a:latin typeface="Calibri"/>
              </a:rPr>
              <a:t>CV-AI · Staj-AI · Plus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038344"/>
            <a:ext cx="11155680" cy="530352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166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Kimlik katmanı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51663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D5E4EE"/>
                </a:solidFill>
                <a:latin typeface="Calibri"/>
              </a:rPr>
              <a:t>Doğrulama rozetleri · Gizlilik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660136"/>
            <a:ext cx="11155680" cy="530352"/>
          </a:xfrm>
          <a:prstGeom prst="roundRect">
            <a:avLst>
              <a:gd name="adj" fmla="val 12000"/>
            </a:avLst>
          </a:prstGeom>
          <a:solidFill>
            <a:srgbClr val="07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7881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Güvenlik + altyapı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578815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D5E4EE"/>
                </a:solidFill>
                <a:latin typeface="Calibri"/>
              </a:rPr>
              <a:t>AYS Tech Guard · Firebase · iOS/Android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Kurumsal Tanıtım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BÖLÜM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Marka deneyimi ve güvenli giriş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A"/>
                </a:solidFill>
                <a:latin typeface="Calibri"/>
              </a:rPr>
              <a:t>Sade, profesyonel ve kampüs kimliğini yansıtan bir karşılama. Misafir akışa göz atabilir; kurumsal ve öğrenci hesapları güvenle giriş yapar.</a:t>
            </a:r>
          </a:p>
        </p:txBody>
      </p:sp>
      <p:pic>
        <p:nvPicPr>
          <p:cNvPr id="10" name="Picture 9" descr="01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507" y="1965960"/>
            <a:ext cx="1844426" cy="4114800"/>
          </a:xfrm>
          <a:prstGeom prst="rect">
            <a:avLst/>
          </a:prstGeom>
        </p:spPr>
      </p:pic>
      <p:pic>
        <p:nvPicPr>
          <p:cNvPr id="11" name="Picture 10" descr="02_login_f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8605" y="1965960"/>
            <a:ext cx="183639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63040" y="612648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Calibri"/>
              </a:rPr>
              <a:t>Karşılama &amp; marka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612648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Calibri"/>
              </a:rPr>
              <a:t>Kampüs hesabıyla giriş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Kurumsal Tanıtım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BÖLÜM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Kampüs akışı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A"/>
                </a:solidFill>
                <a:latin typeface="Calibri"/>
              </a:rPr>
              <a:t>Akış; firmaların, toplulukların ve öğrencilerin aynı dilde konuştuğu canlı vitrindir. Resmi hesaplar altın / mavi rozetle, Plus üyeleri yeşil tick ile öne çıkar.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Firmalar için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6032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A2B3A"/>
                </a:solidFill>
                <a:latin typeface="Calibri"/>
              </a:rPr>
              <a:t>•  Marka ve işveren hikâyesini öğrenci dilinde paylaşın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3A"/>
                </a:solidFill>
                <a:latin typeface="Calibri"/>
              </a:rPr>
              <a:t>•  Staj / kariyer içeriklerini hashtag ile keşfettirin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3A"/>
                </a:solidFill>
                <a:latin typeface="Calibri"/>
              </a:rPr>
              <a:t>•  Doğrulanmış firma hesabıyla güven inşa edin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2336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Topluluklar için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434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A2B3A"/>
                </a:solidFill>
                <a:latin typeface="Calibri"/>
              </a:rPr>
              <a:t>•  Etkinlik heyecanını ve duyuruları akışta canlı tutun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3A"/>
                </a:solidFill>
                <a:latin typeface="Calibri"/>
              </a:rPr>
              <a:t>•  Altın tick ile resmi topluluk kimliğini gösterin</a:t>
            </a:r>
          </a:p>
        </p:txBody>
      </p:sp>
      <p:pic>
        <p:nvPicPr>
          <p:cNvPr id="14" name="Picture 13" descr="03_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6981" y="1600200"/>
            <a:ext cx="2062757" cy="4572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Kurumsal Tanıtım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BÖLÜM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Hikâye: 24 saatlik kampüs nabzı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A"/>
                </a:solidFill>
                <a:latin typeface="Calibri"/>
              </a:rPr>
              <a:t>Anlık görünürlük için hikâyeler 24 saat sonra otomatik silinir. Etkinlik countdown’u, staj hatırlatması veya topluluk anları doğal ritimle dolaşır.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40280"/>
            <a:ext cx="152247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" y="240487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42316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04872"/>
            <a:ext cx="882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Çekim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743200"/>
            <a:ext cx="882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Kamera / galeri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25396.0" y="276606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189988" y="2240280"/>
            <a:ext cx="152247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18004" y="240487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18004" y="242316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2908" y="2404872"/>
            <a:ext cx="882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Yayın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2908" y="2743200"/>
            <a:ext cx="882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24 saat hikâye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12464.0" y="276606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877056" y="2240280"/>
            <a:ext cx="152247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05072" y="240487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242316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9976" y="2404872"/>
            <a:ext cx="882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İzleme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9976" y="2743200"/>
            <a:ext cx="882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Görüntüleyenler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99532.0" y="276606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564124" y="2240280"/>
            <a:ext cx="152247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92140" y="240487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2140" y="242316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67044" y="2404872"/>
            <a:ext cx="882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Etkileşim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67044" y="2743200"/>
            <a:ext cx="882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Beğeni kalbi</a:t>
            </a:r>
          </a:p>
        </p:txBody>
      </p:sp>
      <p:pic>
        <p:nvPicPr>
          <p:cNvPr id="33" name="Picture 32" descr="04_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3587" y="1600200"/>
            <a:ext cx="2089546" cy="457200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Kurumsal Tanıtım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BÖLÜM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Reels, medya ve içerik koruması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A"/>
                </a:solidFill>
                <a:latin typeface="Calibri"/>
              </a:rPr>
              <a:t>Kampüs Reels ile kısa, dikey ve yüksek etkileşimli videolar. Fotoğraf ve videoda indirme yoktur. Dosyalar Plus ile paylaşılır.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86000"/>
            <a:ext cx="10515600" cy="530352"/>
          </a:xfrm>
          <a:prstGeom prst="roundRect">
            <a:avLst>
              <a:gd name="adj" fmla="val 12000"/>
            </a:avLst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140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Reels &amp; sosyal medya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1401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D5E4EE"/>
                </a:solidFill>
                <a:latin typeface="Calibri"/>
              </a:rPr>
              <a:t>Beğeni · yorum · mention · bildirim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07792"/>
            <a:ext cx="10515600" cy="530352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0358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Medya koruması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3580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D5E4EE"/>
                </a:solidFill>
                <a:latin typeface="Calibri"/>
              </a:rPr>
              <a:t>Foto / video: izle, indirme yok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529584"/>
            <a:ext cx="10515600" cy="530352"/>
          </a:xfrm>
          <a:prstGeom prst="roundRect">
            <a:avLst>
              <a:gd name="adj" fmla="val 12000"/>
            </a:avLst>
          </a:prstGeom>
          <a:solidFill>
            <a:srgbClr val="178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657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Dosya (Plus)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6576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D5E4EE"/>
                </a:solidFill>
                <a:latin typeface="Calibri"/>
              </a:rPr>
              <a:t>PDF / not paylaşımı + indirme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151376"/>
            <a:ext cx="10515600" cy="530352"/>
          </a:xfrm>
          <a:prstGeom prst="roundRect">
            <a:avLst>
              <a:gd name="adj" fmla="val 12000"/>
            </a:avLst>
          </a:prstGeom>
          <a:solidFill>
            <a:srgbClr val="07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2793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AYS Tech Guard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27939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D5E4EE"/>
                </a:solidFill>
                <a:latin typeface="Calibri"/>
              </a:rPr>
              <a:t>Metin · link · medya · dosya denetimi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Kurumsal Tanıtım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BÖLÜM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Keşif: arama ve doğrulanmış profiller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A"/>
                </a:solidFill>
                <a:latin typeface="Calibri"/>
              </a:rPr>
              <a:t>Kişi, @handle ve #gönderi ile kampüsü keşfedin. Firma, Topluluk, AI Bot ve üniversite etiketleri net ayrılır.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A2B3A"/>
                </a:solidFill>
                <a:latin typeface="Calibri"/>
              </a:rPr>
              <a:t>•  Trend hashtag’ler etkileşimle listelenir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3A"/>
                </a:solidFill>
                <a:latin typeface="Calibri"/>
              </a:rPr>
              <a:t>•  Altın tick’li resmi hesaplar ilk bakışta güven verir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3A"/>
                </a:solidFill>
                <a:latin typeface="Calibri"/>
              </a:rPr>
              <a:t>•  İşveren ve topluluk keşfi tek arama deneyiminde</a:t>
            </a:r>
          </a:p>
        </p:txBody>
      </p:sp>
      <p:pic>
        <p:nvPicPr>
          <p:cNvPr id="11" name="Picture 10" descr="05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749" y="1600200"/>
            <a:ext cx="2067222" cy="4572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Kurumsal Tanıtım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BÖLÜM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Etkinlik operasyon şeması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A"/>
                </a:solidFill>
                <a:latin typeface="Calibri"/>
              </a:rPr>
              <a:t>Görsel, tarih, yer, hedef kitle, son başvuru ve kota tek kartta. Öğrenci Başvur der; organizatör doluluğu canlı izler.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94560"/>
            <a:ext cx="152247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" y="235915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37744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59152"/>
            <a:ext cx="882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Oluştur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97480"/>
            <a:ext cx="882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Kart + kota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25396.0" y="272034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189988" y="2194560"/>
            <a:ext cx="152247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18004" y="235915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18004" y="237744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2908" y="2359152"/>
            <a:ext cx="882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Duyur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2908" y="2697480"/>
            <a:ext cx="882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Akış / hikâye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12464.0" y="272034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877056" y="2194560"/>
            <a:ext cx="152247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05072" y="235915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237744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9976" y="2359152"/>
            <a:ext cx="882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Başvuru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9976" y="2697480"/>
            <a:ext cx="882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Öğrenci tıklar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99532.0" y="272034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564124" y="2194560"/>
            <a:ext cx="152247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92140" y="235915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2140" y="237744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67044" y="2359152"/>
            <a:ext cx="882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Yönet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67044" y="2697480"/>
            <a:ext cx="882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Doluluk izle</a:t>
            </a:r>
          </a:p>
        </p:txBody>
      </p:sp>
      <p:pic>
        <p:nvPicPr>
          <p:cNvPr id="33" name="Picture 32" descr="06_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608" y="1600200"/>
            <a:ext cx="2031503" cy="457200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Kurumsal Tanıtım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BÖLÜM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Kariyer hunisi: CV-AI → Staj-AI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A"/>
                </a:solidFill>
                <a:latin typeface="Calibri"/>
              </a:rPr>
              <a:t>Profil; vitrin, ağ ve kariyer araçlarının buluşma noktasıdır. CV-AI ATS uyumlu özgeçmiş üretir; Staj-AI ilan ve başvuruyu tek panelde toplar.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94560"/>
            <a:ext cx="152247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" y="235915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37744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59152"/>
            <a:ext cx="882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Profil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97480"/>
            <a:ext cx="882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Kimlik + rozet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25396.0" y="272034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189988" y="2194560"/>
            <a:ext cx="152247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18004" y="235915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18004" y="237744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2908" y="2359152"/>
            <a:ext cx="882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CV-AI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2908" y="2697480"/>
            <a:ext cx="882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ATS · dil · tema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12464.0" y="272034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877056" y="2194560"/>
            <a:ext cx="152247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05072" y="235915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237744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9976" y="2359152"/>
            <a:ext cx="882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Staj-AI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9976" y="2697480"/>
            <a:ext cx="882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İlan / teklif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99532.0" y="272034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564124" y="2194560"/>
            <a:ext cx="152247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92140" y="235915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2140" y="237744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67044" y="2359152"/>
            <a:ext cx="882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Eşleşme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67044" y="2697480"/>
            <a:ext cx="882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Başvuru hunisi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56616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A2B3A"/>
                </a:solidFill>
                <a:latin typeface="Calibri"/>
              </a:rPr>
              <a:t>•  Çalışma odası: senkron sayaç + sohbet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3A"/>
                </a:solidFill>
                <a:latin typeface="Calibri"/>
              </a:rPr>
              <a:t>•  Plus: yeşil tick, dosya, CV güçleri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3A"/>
                </a:solidFill>
                <a:latin typeface="Calibri"/>
              </a:rPr>
              <a:t>•  Gizlilik: görünürlük, arama, engelleme</a:t>
            </a:r>
          </a:p>
        </p:txBody>
      </p:sp>
      <p:pic>
        <p:nvPicPr>
          <p:cNvPr id="34" name="Picture 33" descr="07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214" y="1600200"/>
            <a:ext cx="2058292" cy="45720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Kurumsal Tanıtım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BÖLÜM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Firma &amp; topluluk değer şeması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A"/>
                </a:solidFill>
                <a:latin typeface="Calibri"/>
              </a:rPr>
              <a:t>İki kurumsal aktör aynı platformda farklı operasyonel kazanımlar elde eder.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5212080" cy="402336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2011680"/>
            <a:ext cx="5212080" cy="4023360"/>
          </a:xfrm>
          <a:prstGeom prst="roundRect">
            <a:avLst>
              <a:gd name="adj" fmla="val 12000"/>
            </a:avLst>
          </a:prstGeom>
          <a:solidFill>
            <a:srgbClr val="0F2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Firma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94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Resmi Topluluk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743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●  İşveren görünürlüğü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272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●  Staj &amp; işe alım hunisi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1129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●  Etkinlik / kariyer günü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9534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●  Doğrulanmış itibar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793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●  Plus: dosya + yeşil tick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663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●  Guard ile güvenli marka alanı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743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●  Altın tick ile resmi kimlik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1272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●  Etkinlik: başvuru + kota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51129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●  Duyuru otoritesi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89534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●  Üye etkileşimi (hikâye/Reels)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2793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●  Çalışma odası / ortak odak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663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●  Sahte hesaptan net ayrışma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Kurumsal Tanıtım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BÖLÜM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Yetenek haritası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00200"/>
            <a:ext cx="5367528" cy="2075688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783080"/>
            <a:ext cx="5001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Sosyal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103120"/>
            <a:ext cx="5001768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Akış, hikâye, Reels, mention, hashtag, beğeni, yorum, repost.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600200"/>
            <a:ext cx="5367528" cy="2075688"/>
          </a:xfrm>
          <a:prstGeom prst="roundRect">
            <a:avLst>
              <a:gd name="adj" fmla="val 12000"/>
            </a:avLst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83080"/>
            <a:ext cx="5001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Kurumsal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03120"/>
            <a:ext cx="5001768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Etkinlik, duyuru, rozetler, resmi hesap, keşfet.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22192"/>
            <a:ext cx="5367528" cy="2075688"/>
          </a:xfrm>
          <a:prstGeom prst="roundRect">
            <a:avLst>
              <a:gd name="adj" fmla="val 12000"/>
            </a:avLst>
          </a:prstGeom>
          <a:solidFill>
            <a:srgbClr val="0F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005072"/>
            <a:ext cx="5001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Kariyer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325112"/>
            <a:ext cx="5001768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CV-AI, Staj-AI, Plus kota/dil/tema, dosya paylaşımı.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3822192"/>
            <a:ext cx="5367528" cy="2075688"/>
          </a:xfrm>
          <a:prstGeom prst="roundRect">
            <a:avLst>
              <a:gd name="adj" fmla="val 12000"/>
            </a:avLst>
          </a:prstGeom>
          <a:solidFill>
            <a:srgbClr val="1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005072"/>
            <a:ext cx="5001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Güven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325112"/>
            <a:ext cx="5001768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Guard, gizlilik, engelleme, şikâyet, medya koruması.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Kurumsal Tanıtım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BÖLÜM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Birlikte büyüyelim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3A"/>
                </a:solidFill>
                <a:latin typeface="Calibri"/>
              </a:rPr>
              <a:t>KampüsteyimAPP; firmanızın yetenek havuzuna, topluluğunuzun üyelerine ve kampüsün nabzına aynı anda dokunmanızı sağlar.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8600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" y="24505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4688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5059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Tanışma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78892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Demo / sunum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68396.0" y="281178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2988" y="228600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61004" y="24505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61004" y="24688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35908" y="245059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Aktivasyon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5908" y="278892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Resmi hesap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98464.0" y="281178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63056" y="228600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91072" y="24505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24688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5976" y="245059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Yayın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5976" y="278892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İlk içerik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28532.0" y="281178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993124" y="228600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21140" y="24505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21140" y="24688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6044" y="245059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Büyüme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6044" y="278892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Ölçüm &amp; Plus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657600"/>
            <a:ext cx="11155680" cy="77724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A6A0"/>
                </a:solidFill>
                <a:latin typeface="Calibri"/>
              </a:rPr>
              <a:t>Instagram  @kampusteyimapp  ·  instagram.com/kampusteyimapp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71600" y="4709160"/>
            <a:ext cx="4114800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 w="12700">
            <a:solidFill>
              <a:srgbClr val="1F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75120" y="4709160"/>
            <a:ext cx="4114800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 w="12700">
            <a:solidFill>
              <a:srgbClr val="1F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4892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1F33"/>
                </a:solidFill>
                <a:latin typeface="Calibri"/>
              </a:rPr>
              <a:t>Kayra Çatalkaya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257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Kurucu / Ürün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892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1F33"/>
                </a:solidFill>
                <a:latin typeface="Calibri"/>
              </a:rPr>
              <a:t>AYS Tech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5257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Altyapı &amp; Teknoloji Partneri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