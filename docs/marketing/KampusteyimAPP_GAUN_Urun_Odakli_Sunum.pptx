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097280"/>
            <a:ext cx="4937760" cy="4937760"/>
          </a:xfrm>
          <a:prstGeom prst="ellipse">
            <a:avLst/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kamp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94360"/>
            <a:ext cx="960120" cy="960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6766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EC4B6"/>
                </a:solidFill>
                <a:latin typeface="Calibri"/>
              </a:rPr>
              <a:t>Kampüsün dijital
buluşma noktası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5E4EE"/>
                </a:solidFill>
                <a:latin typeface="Calibri"/>
              </a:rPr>
              <a:t>Öğrencileri, resmi toplulukları, etkinlikleri ve kampüs duyurularını tek bir güvenli deneyimde birleştirir.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150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C4B6"/>
                </a:solidFill>
                <a:latin typeface="Calibri"/>
              </a:rPr>
              <a:t>GAÜN için ürün ve pilot uygulama sunumu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594360"/>
            <a:ext cx="2880360" cy="5669280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096" y="704088"/>
            <a:ext cx="2458807" cy="54498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Gaziantep Üniversitesi Rektörlüğü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01 · ÜRÜN VİZYONU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Tek kampüs, tek dijital deneyim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/ 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645920"/>
            <a:ext cx="3241548" cy="2098548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828800"/>
            <a:ext cx="28757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Öğrenci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148840"/>
            <a:ext cx="2875788" cy="1458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BE8"/>
                </a:solidFill>
                <a:latin typeface="Calibri"/>
              </a:rPr>
              <a:t>Kampüsü keşfeder, paylaşır, etkinliğe katılır ve topluluklarla bağ kurar.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6492" y="1645920"/>
            <a:ext cx="3241548" cy="2098548"/>
          </a:xfrm>
          <a:prstGeom prst="roundRect">
            <a:avLst>
              <a:gd name="adj" fmla="val 12000"/>
            </a:avLst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37660" y="1828800"/>
            <a:ext cx="28757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Topluluk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7660" y="2148840"/>
            <a:ext cx="2875788" cy="1458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BE8"/>
                </a:solidFill>
                <a:latin typeface="Calibri"/>
              </a:rPr>
              <a:t>Resmi kimliğiyle duyuru, etkinlik, başvuru ve üye iletişimini yönetir.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90772"/>
            <a:ext cx="3241548" cy="2098548"/>
          </a:xfrm>
          <a:prstGeom prst="roundRect">
            <a:avLst>
              <a:gd name="adj" fmla="val 12000"/>
            </a:avLst>
          </a:prstGeom>
          <a:solidFill>
            <a:srgbClr val="0F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073652"/>
            <a:ext cx="28757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Üniversite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393692"/>
            <a:ext cx="2875788" cy="1458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BE8"/>
                </a:solidFill>
                <a:latin typeface="Calibri"/>
              </a:rPr>
              <a:t>Doğrulanmış kampüs iletişimini görünür, düzenli ve ölçülebilir hale getirir.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6492" y="3890772"/>
            <a:ext cx="3241548" cy="2098548"/>
          </a:xfrm>
          <a:prstGeom prst="roundRect">
            <a:avLst>
              <a:gd name="adj" fmla="val 12000"/>
            </a:avLst>
          </a:prstGeom>
          <a:solidFill>
            <a:srgbClr val="1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37660" y="4073652"/>
            <a:ext cx="28757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Ekosistem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7660" y="4393692"/>
            <a:ext cx="2875788" cy="1458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BE8"/>
                </a:solidFill>
                <a:latin typeface="Calibri"/>
              </a:rPr>
              <a:t>Kariyer, sosyal yaşam, kültür ve spor aynı dijital kampüste buluşur.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1645920"/>
            <a:ext cx="4160520" cy="434340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196596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3"/>
                </a:solidFill>
                <a:latin typeface="Calibri"/>
              </a:rPr>
              <a:t>Parçalı kampüs iletişiminin yerine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880360"/>
            <a:ext cx="3520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2B3A"/>
                </a:solidFill>
                <a:latin typeface="Calibri"/>
              </a:rPr>
              <a:t>•  Tek hesap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3A"/>
                </a:solidFill>
                <a:latin typeface="Calibri"/>
              </a:rPr>
              <a:t>•  Tek uygulama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3A"/>
                </a:solidFill>
                <a:latin typeface="Calibri"/>
              </a:rPr>
              <a:t>•  Doğrulanmış kimlikler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3A"/>
                </a:solidFill>
                <a:latin typeface="Calibri"/>
              </a:rPr>
              <a:t>•  Kampüse özel içerik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3A"/>
                </a:solidFill>
                <a:latin typeface="Calibri"/>
              </a:rPr>
              <a:t>•  Yönetilebilir dijital süreçler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Gaziantep Üniversitesi Rektörlüğü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02 · ÖĞRENCİ DENEYİMİ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Kampüste olan her şey tek akışta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/ 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554480"/>
            <a:ext cx="2788920" cy="4526280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3_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01" y="1664208"/>
            <a:ext cx="1943117" cy="430682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703320" y="1554480"/>
            <a:ext cx="2788920" cy="4526280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4_s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3603" y="1664208"/>
            <a:ext cx="1968353" cy="430682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720840" y="1554480"/>
            <a:ext cx="2788920" cy="4526280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5_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1638" y="1664208"/>
            <a:ext cx="1947323" cy="4306824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738360" y="1554480"/>
            <a:ext cx="1828800" cy="4526280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85248" y="1874519"/>
            <a:ext cx="1353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Akış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Hikâyeler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Duyurular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Keşfet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Arama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Reels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Kampüs gündemi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Gaziantep Üniversitesi Rektörlüğü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03 · ETKİNLİK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Duyurudan katılıma uçtan uca süreç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/ 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554480"/>
            <a:ext cx="2971800" cy="4526280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6_ev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582" y="1664208"/>
            <a:ext cx="1913676" cy="430682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069080" y="1828800"/>
            <a:ext cx="1728216" cy="10515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7096" y="19933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97096" y="20116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93392"/>
            <a:ext cx="1088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Yayınla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31720"/>
            <a:ext cx="1088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Etkinlik bilgisi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97296.0" y="235458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961888" y="1828800"/>
            <a:ext cx="1728216" cy="1051560"/>
          </a:xfrm>
          <a:prstGeom prst="roundRect">
            <a:avLst>
              <a:gd name="adj" fmla="val 12000"/>
            </a:avLst>
          </a:prstGeom>
          <a:solidFill>
            <a:srgbClr val="E4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89904" y="19933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9904" y="20116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1993392"/>
            <a:ext cx="1088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Duyur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2331720"/>
            <a:ext cx="1088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Kampüs erişimi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690104.0" y="235458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854696" y="1828800"/>
            <a:ext cx="1728216" cy="10515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82712" y="19933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82712" y="20116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6" y="1993392"/>
            <a:ext cx="1088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Başvuru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2331720"/>
            <a:ext cx="1088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Kota ve kayıt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82912.0" y="2354580.0"/>
            <a:ext cx="164592.0" cy="0.0"/>
          </a:xfrm>
          <a:prstGeom prst="line">
            <a:avLst/>
          </a:prstGeom>
          <a:ln w="25400">
            <a:solidFill>
              <a:srgbClr val="1F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747504" y="1828800"/>
            <a:ext cx="1728216" cy="1051560"/>
          </a:xfrm>
          <a:prstGeom prst="roundRect">
            <a:avLst>
              <a:gd name="adj" fmla="val 12000"/>
            </a:avLst>
          </a:prstGeom>
          <a:solidFill>
            <a:srgbClr val="E4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875520" y="1993392"/>
            <a:ext cx="292608" cy="292608"/>
          </a:xfrm>
          <a:prstGeom prst="ellipse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0" y="201168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50424" y="1993392"/>
            <a:ext cx="10881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3"/>
                </a:solidFill>
                <a:latin typeface="Calibri"/>
              </a:rPr>
              <a:t>Katılım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50424" y="2331720"/>
            <a:ext cx="1088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Kontrollü süreç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69080" y="3337560"/>
            <a:ext cx="7406640" cy="233172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365760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3"/>
                </a:solidFill>
                <a:latin typeface="Calibri"/>
              </a:rPr>
              <a:t>Topluluk ve üniversite için kazanım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206240"/>
            <a:ext cx="6583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2B3A"/>
                </a:solidFill>
                <a:latin typeface="Calibri"/>
              </a:rPr>
              <a:t>•  Dağınık form ve mesaj trafiğinin azalması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3A"/>
                </a:solidFill>
                <a:latin typeface="Calibri"/>
              </a:rPr>
              <a:t>•  Başvuru, kontenjan ve son tarih bilgisinin tek yerde olması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3A"/>
                </a:solidFill>
                <a:latin typeface="Calibri"/>
              </a:rPr>
              <a:t>•  Öğrencinin etkinlikleri kolayca keşfetmesi ve paylaşması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Gaziantep Üniversitesi Rektörlüğü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04 · TOPLULUKLAR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Resmi toplulukların dijital merkezi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/ 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600200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Calibri"/>
              </a:rPr>
              <a:t>Doğrulanmış profil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31720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5E4EE"/>
                </a:solidFill>
                <a:latin typeface="Calibri"/>
              </a:rPr>
              <a:t>Topluluğun resmi kimliği, rozeti ve güvenilir iletişim kanalı.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600200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Calibri"/>
              </a:rPr>
              <a:t>İçerik yönetimi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331720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5E4EE"/>
                </a:solidFill>
                <a:latin typeface="Calibri"/>
              </a:rPr>
              <a:t>Gönderi, hikâye, duyuru ve etkinlik içeriklerinin tek noktadan yayını.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600200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C4B6"/>
                </a:solidFill>
                <a:latin typeface="Calibri"/>
              </a:rPr>
              <a:t>Başvuru süreçleri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331720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5E4EE"/>
                </a:solidFill>
                <a:latin typeface="Calibri"/>
              </a:rPr>
              <a:t>Üyelik ve etkinlik başvurularının daha düzenli yürütülmesi.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749039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977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3"/>
                </a:solidFill>
                <a:latin typeface="Calibri"/>
              </a:rPr>
              <a:t>Görünürlük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480559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Yeni öğrencilerin ilgi alanlarına göre toplulukları keşfetmesi.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749039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977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3"/>
                </a:solidFill>
                <a:latin typeface="Calibri"/>
              </a:rPr>
              <a:t>Ekip yönetimi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480559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Yetkilendirilmiş hesaplar ve topluluk yöneticileri için kontrollü erişim.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749039"/>
            <a:ext cx="3520440" cy="1874519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3977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3"/>
                </a:solidFill>
                <a:latin typeface="Calibri"/>
              </a:rPr>
              <a:t>Kampüs ağı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480559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Topluluklar arası iş birliği ve ortak etkinliklerin kolaylaşması.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Gaziantep Üniversitesi Rektörlüğü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05 · TEK UYGULAMA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Sosyal ağdan daha fazlası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/ 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554480"/>
            <a:ext cx="2834640" cy="4526280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7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384" y="1664208"/>
            <a:ext cx="1938911" cy="430682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977639" y="1691640"/>
            <a:ext cx="7452360" cy="530352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39" y="18196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Sosyal kampüs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19" y="181965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D5E4EE"/>
                </a:solidFill>
                <a:latin typeface="Calibri"/>
              </a:rPr>
              <a:t>Akış · hikâye · reels · mesajlaşma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2313432"/>
            <a:ext cx="7452360" cy="530352"/>
          </a:xfrm>
          <a:prstGeom prst="roundRect">
            <a:avLst>
              <a:gd name="adj" fmla="val 12000"/>
            </a:avLst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39" y="24414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Etkinlik merkezi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19" y="244144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D5E4EE"/>
                </a:solidFill>
                <a:latin typeface="Calibri"/>
              </a:rPr>
              <a:t>Duyuru · başvuru · kota · bilet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2935224"/>
            <a:ext cx="7452360" cy="530352"/>
          </a:xfrm>
          <a:prstGeom prst="roundRect">
            <a:avLst>
              <a:gd name="adj" fmla="val 12000"/>
            </a:avLst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39" y="3063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Kariyer araçları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19" y="30632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A6A7A"/>
                </a:solidFill>
                <a:latin typeface="Calibri"/>
              </a:rPr>
              <a:t>Staj-AI · CV-AI · firma fırsatları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39" y="3557016"/>
            <a:ext cx="7452360" cy="530352"/>
          </a:xfrm>
          <a:prstGeom prst="roundRect">
            <a:avLst>
              <a:gd name="adj" fmla="val 12000"/>
            </a:avLst>
          </a:prstGeom>
          <a:solidFill>
            <a:srgbClr val="178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39" y="36850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Topluluk yönetimi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19" y="36850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D5E4EE"/>
                </a:solidFill>
                <a:latin typeface="Calibri"/>
              </a:rPr>
              <a:t>Resmi profil · ekip · üye · etkinlik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77639" y="4178808"/>
            <a:ext cx="7452360" cy="530352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39" y="43068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Kişisel deneyim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19" y="430682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D5E4EE"/>
                </a:solidFill>
                <a:latin typeface="Calibri"/>
              </a:rPr>
              <a:t>Çalışma odası · bildirim · gizlilik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77639" y="4800600"/>
            <a:ext cx="7452360" cy="530352"/>
          </a:xfrm>
          <a:prstGeom prst="roundRect">
            <a:avLst>
              <a:gd name="adj" fmla="val 12000"/>
            </a:avLst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39" y="49286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Kurumsal katman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19" y="492861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D5E4EE"/>
                </a:solidFill>
                <a:latin typeface="Calibri"/>
              </a:rPr>
              <a:t>Moderasyon · raporlama · yetkilendirme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Gaziantep Üniversitesi Rektörlüğü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06 · SKS VE YÖNETİM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Daha dinamik ve ölçülebilir kampüs süreçleri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/ 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5303520" cy="4251960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659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C4B6"/>
                </a:solidFill>
                <a:latin typeface="Calibri"/>
              </a:rPr>
              <a:t>KampüsteyimAPP katmanı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517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2B3A"/>
                </a:solidFill>
                <a:latin typeface="Calibri"/>
              </a:rPr>
              <a:t>•  Topluluk ve etkinlik görünürlüğü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3A"/>
                </a:solidFill>
                <a:latin typeface="Calibri"/>
              </a:rPr>
              <a:t>•  Başvuru ve kontenjan süreçleri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3A"/>
                </a:solidFill>
                <a:latin typeface="Calibri"/>
              </a:rPr>
              <a:t>•  Kültür–spor faaliyetlerinin dijital erişimi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3A"/>
                </a:solidFill>
                <a:latin typeface="Calibri"/>
              </a:rPr>
              <a:t>•  Öğrenci geri bildirimi ve duyurular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3A"/>
                </a:solidFill>
                <a:latin typeface="Calibri"/>
              </a:rPr>
              <a:t>•  Yetkilendirilmiş yönetim panelleri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5303520" cy="4251960"/>
          </a:xfrm>
          <a:prstGeom prst="roundRect">
            <a:avLst>
              <a:gd name="adj" fmla="val 12000"/>
            </a:avLst>
          </a:prstGeom>
          <a:solidFill>
            <a:srgbClr val="EEF5F8"/>
          </a:solidFill>
          <a:ln w="12700">
            <a:solidFill>
              <a:srgbClr val="C9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9659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3"/>
                </a:solidFill>
                <a:latin typeface="Calibri"/>
              </a:rPr>
              <a:t>Kurumsal fayda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517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2B3A"/>
                </a:solidFill>
                <a:latin typeface="Calibri"/>
              </a:rPr>
              <a:t>•  Öğrenciye mobil ve güncel erişim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3A"/>
                </a:solidFill>
                <a:latin typeface="Calibri"/>
              </a:rPr>
              <a:t>•  Daha düzenli operasyon ve daha az parçalı iletişim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3A"/>
                </a:solidFill>
                <a:latin typeface="Calibri"/>
              </a:rPr>
              <a:t>•  Ölçülebilir katılım verileri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3A"/>
                </a:solidFill>
                <a:latin typeface="Calibri"/>
              </a:rPr>
              <a:t>•  Üniversite markasına uygun resmi dijital kanal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B3A"/>
                </a:solidFill>
                <a:latin typeface="Calibri"/>
              </a:rPr>
              <a:t>•  Mevcut süreçlerle aşamalı entegrasyon olanağı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kampus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320040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9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65615" y="128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8C8D4"/>
                </a:solidFill>
                <a:latin typeface="Calibri"/>
              </a:rPr>
              <a:t>Gaziantep Üniversitesi Rektörlüğü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A6A0"/>
                </a:solidFill>
                <a:latin typeface="Calibri"/>
              </a:rPr>
              <a:t>07 · GÜVEN VE SÜRDÜRÜLEBİLİRLİK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96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Kurumsal kullanıma uygun yapı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1005840" cy="64008"/>
          </a:xfrm>
          <a:prstGeom prst="round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47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@kampusteyimapp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5471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/ 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45920"/>
            <a:ext cx="3287268" cy="2075688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1828800"/>
            <a:ext cx="29215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Doğrulama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48840"/>
            <a:ext cx="2921508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BE8"/>
                </a:solidFill>
                <a:latin typeface="Calibri"/>
              </a:rPr>
              <a:t>Öğrenci, topluluk, firma ve resmi hesapları ayıran görünür kimlik katmanı.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73652" y="1645920"/>
            <a:ext cx="3287268" cy="2075688"/>
          </a:xfrm>
          <a:prstGeom prst="roundRect">
            <a:avLst>
              <a:gd name="adj" fmla="val 12000"/>
            </a:avLst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4820" y="1828800"/>
            <a:ext cx="29215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Moderasyon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4820" y="2148840"/>
            <a:ext cx="2921508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BE8"/>
                </a:solidFill>
                <a:latin typeface="Calibri"/>
              </a:rPr>
              <a:t>Şikâyet, engelleme, içerik denetimi ve yönetim araçları.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67912"/>
            <a:ext cx="3287268" cy="2075688"/>
          </a:xfrm>
          <a:prstGeom prst="roundRect">
            <a:avLst>
              <a:gd name="adj" fmla="val 12000"/>
            </a:avLst>
          </a:prstGeom>
          <a:solidFill>
            <a:srgbClr val="0F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050792"/>
            <a:ext cx="29215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Gizlilik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370832"/>
            <a:ext cx="2921508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BE8"/>
                </a:solidFill>
                <a:latin typeface="Calibri"/>
              </a:rPr>
              <a:t>Hesap görünürlüğü, iletişim ve bildirim tercihlerinin kullanıcı kontrolünde olması.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73652" y="3867912"/>
            <a:ext cx="3287268" cy="2075688"/>
          </a:xfrm>
          <a:prstGeom prst="roundRect">
            <a:avLst>
              <a:gd name="adj" fmla="val 12000"/>
            </a:avLst>
          </a:prstGeom>
          <a:solidFill>
            <a:srgbClr val="1A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4820" y="4050792"/>
            <a:ext cx="29215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Yetkilendirme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4820" y="4370832"/>
            <a:ext cx="2921508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BE8"/>
                </a:solidFill>
                <a:latin typeface="Calibri"/>
              </a:rPr>
              <a:t>Yönetim işlevlerinin rol ve izin temelli kontrollü kullanımı.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1645920"/>
            <a:ext cx="3886200" cy="4297680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196596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C4B6"/>
                </a:solidFill>
                <a:latin typeface="Calibri"/>
              </a:rPr>
              <a:t>GAÜN’e özel kontrollü 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2926080"/>
            <a:ext cx="3063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  Kapsamı belirle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2  Toplulukları doğrula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3  Pilot kullanımı başlat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4  Geri bildirim topla</a:t>
            </a:r>
          </a:p>
          <a:p>
            <a:pPr algn="l">
              <a:spcAft>
                <a:spcPts val="1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5  Üniversite geneline yaygınlaştır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097280"/>
            <a:ext cx="4937760" cy="4937760"/>
          </a:xfrm>
          <a:prstGeom prst="ellipse">
            <a:avLst/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C4B6"/>
                </a:solidFill>
                <a:latin typeface="Calibri"/>
              </a:rPr>
              <a:t>KampüsteyimAPP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424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GAÜN’den Türkiye’ye
örnek bir dijital kampüs modeli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86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5E4EE"/>
                </a:solidFill>
                <a:latin typeface="Calibri"/>
              </a:rPr>
              <a:t>Öğrenci deneyimi · Resmi topluluklar · Etkinlik yönetimi · SKS süreçleri · Güvenli kampüs iletişimi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74920"/>
            <a:ext cx="4114800" cy="658368"/>
          </a:xfrm>
          <a:prstGeom prst="roundRect">
            <a:avLst>
              <a:gd name="adj" fmla="val 12000"/>
            </a:avLst>
          </a:prstGeom>
          <a:solidFill>
            <a:srgbClr val="1F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kampusteyim.app  ·  app.kampusteyim.app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